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4" r:id="rId3"/>
    <p:sldId id="257" r:id="rId4"/>
    <p:sldId id="258" r:id="rId5"/>
    <p:sldId id="272" r:id="rId6"/>
    <p:sldId id="259" r:id="rId7"/>
    <p:sldId id="265" r:id="rId8"/>
    <p:sldId id="266" r:id="rId9"/>
    <p:sldId id="267" r:id="rId10"/>
    <p:sldId id="268" r:id="rId11"/>
    <p:sldId id="269" r:id="rId12"/>
    <p:sldId id="270" r:id="rId13"/>
    <p:sldId id="280" r:id="rId14"/>
    <p:sldId id="281" r:id="rId15"/>
    <p:sldId id="282" r:id="rId16"/>
    <p:sldId id="283" r:id="rId17"/>
    <p:sldId id="262" r:id="rId18"/>
    <p:sldId id="284" r:id="rId19"/>
    <p:sldId id="261" r:id="rId20"/>
    <p:sldId id="273" r:id="rId21"/>
    <p:sldId id="274" r:id="rId22"/>
    <p:sldId id="275" r:id="rId23"/>
    <p:sldId id="279" r:id="rId24"/>
    <p:sldId id="276" r:id="rId25"/>
    <p:sldId id="277" r:id="rId26"/>
    <p:sldId id="278" r:id="rId27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4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B2C8-FA4E-453C-8F74-579A3A434747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49686-AF51-4FEC-9466-A121FBA3B1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23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BB2C8-FA4E-453C-8F74-579A3A434747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49686-AF51-4FEC-9466-A121FBA3B1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96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22AB9C-F8E0-4BA7-AD5C-19660C89E233}"/>
              </a:ext>
            </a:extLst>
          </p:cNvPr>
          <p:cNvSpPr txBox="1"/>
          <p:nvPr/>
        </p:nvSpPr>
        <p:spPr>
          <a:xfrm>
            <a:off x="2765776" y="1791478"/>
            <a:ext cx="5160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/>
              <a:t>보험 약관 기반 </a:t>
            </a:r>
            <a:r>
              <a:rPr lang="en-US" altLang="ko-KR" sz="3600" dirty="0"/>
              <a:t>Agentic AI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0665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57C742-653F-4301-8F35-DEA1D0CBF1B8}"/>
              </a:ext>
            </a:extLst>
          </p:cNvPr>
          <p:cNvSpPr txBox="1"/>
          <p:nvPr/>
        </p:nvSpPr>
        <p:spPr>
          <a:xfrm>
            <a:off x="5806873" y="2302028"/>
            <a:ext cx="3788231" cy="2540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ko-KR" altLang="en-US" dirty="0"/>
              <a:t>개요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기술 구성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3. User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r>
              <a:rPr lang="ko-KR" altLang="en-US" dirty="0"/>
              <a:t> </a:t>
            </a:r>
            <a:r>
              <a:rPr lang="en-US" altLang="ko-KR" dirty="0"/>
              <a:t>Diagram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4. Architecture Diagram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5. </a:t>
            </a:r>
            <a:r>
              <a:rPr lang="ko-KR" altLang="en-US" dirty="0"/>
              <a:t>프로젝트 산출물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6. </a:t>
            </a:r>
            <a:r>
              <a:rPr lang="ko-KR" altLang="en-US" dirty="0"/>
              <a:t>추가 구현 사항 및 개선 아이디어</a:t>
            </a:r>
            <a:endParaRPr lang="en-US" altLang="ko-KR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75F2F3F-B9D6-4222-8B09-BA2430F6037D}"/>
              </a:ext>
            </a:extLst>
          </p:cNvPr>
          <p:cNvCxnSpPr>
            <a:cxnSpLocks/>
          </p:cNvCxnSpPr>
          <p:nvPr/>
        </p:nvCxnSpPr>
        <p:spPr>
          <a:xfrm>
            <a:off x="5338247" y="1103693"/>
            <a:ext cx="0" cy="53522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18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189FB3E-8CBF-479B-BF87-F9391A137AD5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3A185C-0150-44D1-A92A-0574030CA6CD}"/>
              </a:ext>
            </a:extLst>
          </p:cNvPr>
          <p:cNvSpPr txBox="1"/>
          <p:nvPr/>
        </p:nvSpPr>
        <p:spPr>
          <a:xfrm>
            <a:off x="528789" y="216921"/>
            <a:ext cx="10262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1. </a:t>
            </a:r>
            <a:r>
              <a:rPr lang="ko-KR" altLang="en-US" sz="2200" dirty="0"/>
              <a:t>개요</a:t>
            </a:r>
            <a:endParaRPr lang="en-US" altLang="ko-KR" sz="2200" dirty="0"/>
          </a:p>
          <a:p>
            <a:r>
              <a:rPr lang="en-US" altLang="ko-KR" sz="2200" dirty="0"/>
              <a:t>     </a:t>
            </a:r>
            <a:endParaRPr lang="en-US" altLang="ko-KR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7ABF5-3070-4304-8EEF-2256523F620E}"/>
              </a:ext>
            </a:extLst>
          </p:cNvPr>
          <p:cNvSpPr txBox="1"/>
          <p:nvPr/>
        </p:nvSpPr>
        <p:spPr>
          <a:xfrm>
            <a:off x="528789" y="1374277"/>
            <a:ext cx="7258049" cy="468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+mn-ea"/>
              </a:rPr>
              <a:t>목적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생성형 </a:t>
            </a:r>
            <a:r>
              <a:rPr lang="en-US" altLang="ko-KR" sz="1300" dirty="0">
                <a:latin typeface="+mn-ea"/>
              </a:rPr>
              <a:t>AI </a:t>
            </a:r>
            <a:r>
              <a:rPr lang="ko-KR" altLang="en-US" sz="1300" dirty="0">
                <a:latin typeface="+mn-ea"/>
              </a:rPr>
              <a:t>기반 보험약관 </a:t>
            </a:r>
            <a:r>
              <a:rPr lang="ko-KR" altLang="en-US" sz="1300" dirty="0" err="1">
                <a:latin typeface="+mn-ea"/>
              </a:rPr>
              <a:t>전처리</a:t>
            </a:r>
            <a:r>
              <a:rPr lang="en-US" altLang="ko-KR" sz="1300" dirty="0">
                <a:latin typeface="+mn-ea"/>
              </a:rPr>
              <a:t>·</a:t>
            </a:r>
            <a:r>
              <a:rPr lang="ko-KR" altLang="en-US" sz="1300" dirty="0">
                <a:latin typeface="+mn-ea"/>
              </a:rPr>
              <a:t>검색 시스템 구축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복잡한 약관을 누구나 이해하고 활용할 수 있는 지능형 서비스 구현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+mn-ea"/>
              </a:rPr>
              <a:t>기획 배경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보험약관은 전문 용어와 방대한 분량으로 이용자 이해가 어려움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검색</a:t>
            </a:r>
            <a:r>
              <a:rPr lang="en-US" altLang="ko-KR" sz="1300" dirty="0">
                <a:latin typeface="+mn-ea"/>
              </a:rPr>
              <a:t>·</a:t>
            </a:r>
            <a:r>
              <a:rPr lang="ko-KR" altLang="en-US" sz="1300" dirty="0">
                <a:latin typeface="+mn-ea"/>
              </a:rPr>
              <a:t>비교</a:t>
            </a:r>
            <a:r>
              <a:rPr lang="en-US" altLang="ko-KR" sz="1300" dirty="0">
                <a:latin typeface="+mn-ea"/>
              </a:rPr>
              <a:t>·</a:t>
            </a:r>
            <a:r>
              <a:rPr lang="ko-KR" altLang="en-US" sz="1300" dirty="0">
                <a:latin typeface="+mn-ea"/>
              </a:rPr>
              <a:t>관리 과정이 수동적이고 비효율적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AI </a:t>
            </a:r>
            <a:r>
              <a:rPr lang="ko-KR" altLang="en-US" sz="1300" dirty="0">
                <a:latin typeface="+mn-ea"/>
              </a:rPr>
              <a:t>기반 약관 관리</a:t>
            </a:r>
            <a:r>
              <a:rPr lang="en-US" altLang="ko-KR" sz="1300" dirty="0">
                <a:latin typeface="+mn-ea"/>
              </a:rPr>
              <a:t>·</a:t>
            </a:r>
            <a:r>
              <a:rPr lang="ko-KR" altLang="en-US" sz="1300" dirty="0">
                <a:latin typeface="+mn-ea"/>
              </a:rPr>
              <a:t>검색 자동화를 통해 고객 서비스 품질 및 업무 효율성 향상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b="0" i="0" dirty="0">
                <a:effectLst/>
                <a:latin typeface="fkGroteskNeue"/>
              </a:rPr>
              <a:t>기대효과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약관 검색 정확도 향상 및 정보 접근성 개선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상담사</a:t>
            </a:r>
            <a:r>
              <a:rPr lang="en-US" altLang="ko-KR" sz="1300" b="0" i="0" dirty="0">
                <a:effectLst/>
                <a:latin typeface="fkGroteskNeue"/>
              </a:rPr>
              <a:t>·</a:t>
            </a:r>
            <a:r>
              <a:rPr lang="ko-KR" altLang="en-US" sz="1300" b="0" i="0" dirty="0">
                <a:effectLst/>
                <a:latin typeface="fkGroteskNeue"/>
              </a:rPr>
              <a:t>고객센터 업무 효율성 대폭 향상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약관 버전 및 이력 통합 관리로 운영 편의성 강화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endParaRPr lang="en-US" altLang="ko-KR" sz="1300" b="0" i="0" dirty="0">
              <a:effectLst/>
              <a:latin typeface="fkGroteskNeue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b="0" i="0" dirty="0">
                <a:effectLst/>
                <a:latin typeface="fkGroteskNeue"/>
              </a:rPr>
              <a:t>사용자 경험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자연어 질의에 대해 </a:t>
            </a:r>
            <a:r>
              <a:rPr lang="en-US" altLang="ko-KR" sz="1300" b="0" i="0" dirty="0">
                <a:effectLst/>
                <a:latin typeface="fkGroteskNeue"/>
              </a:rPr>
              <a:t>AI</a:t>
            </a:r>
            <a:r>
              <a:rPr lang="ko-KR" altLang="en-US" sz="1300" b="0" i="0" dirty="0">
                <a:effectLst/>
                <a:latin typeface="fkGroteskNeue"/>
              </a:rPr>
              <a:t>가 핵심 조항과 요약 즉시 제공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원문 근거와 함께 신뢰도 높은 답변 확인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직관적 </a:t>
            </a:r>
            <a:r>
              <a:rPr lang="en-US" altLang="ko-KR" sz="1300" b="0" i="0" dirty="0">
                <a:effectLst/>
                <a:latin typeface="fkGroteskNeue"/>
              </a:rPr>
              <a:t>UI</a:t>
            </a:r>
            <a:r>
              <a:rPr lang="ko-KR" altLang="en-US" sz="1300" b="0" i="0" dirty="0">
                <a:effectLst/>
                <a:latin typeface="fkGroteskNeue"/>
              </a:rPr>
              <a:t>에서 파일 관리 및 과거 대화 이력 조회 가능</a:t>
            </a:r>
          </a:p>
        </p:txBody>
      </p:sp>
    </p:spTree>
    <p:extLst>
      <p:ext uri="{BB962C8B-B14F-4D97-AF65-F5344CB8AC3E}">
        <p14:creationId xmlns:p14="http://schemas.microsoft.com/office/powerpoint/2010/main" val="83660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9D635-8CA6-48C4-A24C-B92CBA9D0DF9}"/>
              </a:ext>
            </a:extLst>
          </p:cNvPr>
          <p:cNvSpPr txBox="1"/>
          <p:nvPr/>
        </p:nvSpPr>
        <p:spPr>
          <a:xfrm>
            <a:off x="528789" y="1374277"/>
            <a:ext cx="7541874" cy="5450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+mn-ea"/>
              </a:rPr>
              <a:t>Backend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Framework: </a:t>
            </a:r>
            <a:r>
              <a:rPr lang="en-US" altLang="ko-KR" sz="1300" dirty="0" err="1">
                <a:latin typeface="+mn-ea"/>
              </a:rPr>
              <a:t>FastAPI</a:t>
            </a:r>
            <a:r>
              <a:rPr lang="en-US" altLang="ko-KR" sz="1300" dirty="0">
                <a:latin typeface="+mn-ea"/>
              </a:rPr>
              <a:t> 0.115.0 (Python)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AI Framework: </a:t>
            </a:r>
            <a:r>
              <a:rPr lang="en-US" altLang="ko-KR" sz="1300" dirty="0" err="1">
                <a:latin typeface="+mn-ea"/>
              </a:rPr>
              <a:t>LangGraph</a:t>
            </a:r>
            <a:r>
              <a:rPr lang="en-US" altLang="ko-KR" sz="1300" dirty="0">
                <a:latin typeface="+mn-ea"/>
              </a:rPr>
              <a:t> 0.3.27+ (Multi-Agent </a:t>
            </a:r>
            <a:r>
              <a:rPr lang="ko-KR" altLang="en-US" sz="1300" dirty="0">
                <a:latin typeface="+mn-ea"/>
              </a:rPr>
              <a:t>시스템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Database: PostgreSQL 17.6 + </a:t>
            </a:r>
            <a:r>
              <a:rPr lang="en-US" altLang="ko-KR" sz="1300" dirty="0" err="1">
                <a:latin typeface="+mn-ea"/>
              </a:rPr>
              <a:t>pgvector</a:t>
            </a:r>
            <a:r>
              <a:rPr lang="en-US" altLang="ko-KR" sz="1300" dirty="0">
                <a:latin typeface="+mn-ea"/>
              </a:rPr>
              <a:t> 0.3.6 extension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LLM: </a:t>
            </a:r>
            <a:r>
              <a:rPr lang="en-US" altLang="ko-KR" sz="1300" dirty="0" err="1">
                <a:latin typeface="+mn-ea"/>
              </a:rPr>
              <a:t>OpenAI</a:t>
            </a:r>
            <a:r>
              <a:rPr lang="en-US" altLang="ko-KR" sz="1300" dirty="0">
                <a:latin typeface="+mn-ea"/>
              </a:rPr>
              <a:t> GPT-4o (gpt-4o)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Embedding: </a:t>
            </a:r>
            <a:r>
              <a:rPr lang="en-US" altLang="ko-KR" sz="1300" dirty="0" err="1">
                <a:latin typeface="+mn-ea"/>
              </a:rPr>
              <a:t>OpenAI</a:t>
            </a:r>
            <a:r>
              <a:rPr lang="en-US" altLang="ko-KR" sz="1300" dirty="0">
                <a:latin typeface="+mn-ea"/>
              </a:rPr>
              <a:t> text-embedding-3-large (1536 </a:t>
            </a:r>
            <a:r>
              <a:rPr lang="ko-KR" altLang="en-US" sz="1300" dirty="0">
                <a:latin typeface="+mn-ea"/>
              </a:rPr>
              <a:t>차원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PDF </a:t>
            </a:r>
            <a:r>
              <a:rPr lang="ko-KR" altLang="en-US" sz="1300" dirty="0">
                <a:latin typeface="+mn-ea"/>
              </a:rPr>
              <a:t>처리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35401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en-US" altLang="ko-KR" sz="1300" dirty="0" err="1">
                <a:latin typeface="+mn-ea"/>
              </a:rPr>
              <a:t>PyMuPDF</a:t>
            </a:r>
            <a:r>
              <a:rPr lang="en-US" altLang="ko-KR" sz="1300" dirty="0">
                <a:latin typeface="+mn-ea"/>
              </a:rPr>
              <a:t> 1.24.14</a:t>
            </a:r>
          </a:p>
          <a:p>
            <a:pPr marL="35401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pymupdf4llm 0.0.17</a:t>
            </a:r>
          </a:p>
          <a:p>
            <a:pPr marL="35401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pdf2image 1.17.0</a:t>
            </a:r>
          </a:p>
          <a:p>
            <a:pPr marL="35401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GPT-4o Vision (</a:t>
            </a:r>
            <a:r>
              <a:rPr lang="ko-KR" altLang="en-US" sz="1300" dirty="0" err="1">
                <a:latin typeface="+mn-ea"/>
              </a:rPr>
              <a:t>멀티모달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ORM: </a:t>
            </a:r>
            <a:r>
              <a:rPr lang="en-US" altLang="ko-KR" sz="1300" dirty="0" err="1">
                <a:latin typeface="+mn-ea"/>
              </a:rPr>
              <a:t>SQLAlchemy</a:t>
            </a:r>
            <a:r>
              <a:rPr lang="en-US" altLang="ko-KR" sz="1300" dirty="0">
                <a:latin typeface="+mn-ea"/>
              </a:rPr>
              <a:t> 2.0.35 (</a:t>
            </a:r>
            <a:r>
              <a:rPr lang="ko-KR" altLang="en-US" sz="1300" dirty="0">
                <a:latin typeface="+mn-ea"/>
              </a:rPr>
              <a:t>비동기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 err="1">
                <a:latin typeface="+mn-ea"/>
              </a:rPr>
              <a:t>캐싱</a:t>
            </a:r>
            <a:r>
              <a:rPr lang="en-US" altLang="ko-KR" sz="1300" dirty="0">
                <a:latin typeface="+mn-ea"/>
              </a:rPr>
              <a:t>: Redis 5.2.1 (</a:t>
            </a:r>
            <a:r>
              <a:rPr lang="ko-KR" altLang="en-US" sz="1300" dirty="0">
                <a:latin typeface="+mn-ea"/>
              </a:rPr>
              <a:t>선택사항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미사용 시 </a:t>
            </a:r>
            <a:r>
              <a:rPr lang="en-US" altLang="ko-KR" sz="1300" dirty="0" err="1">
                <a:latin typeface="+mn-ea"/>
              </a:rPr>
              <a:t>MemoryCache</a:t>
            </a:r>
            <a:r>
              <a:rPr lang="en-US" altLang="ko-KR" sz="1300" dirty="0">
                <a:latin typeface="+mn-ea"/>
              </a:rPr>
              <a:t> </a:t>
            </a:r>
            <a:r>
              <a:rPr lang="ko-KR" altLang="en-US" sz="1300" dirty="0">
                <a:latin typeface="+mn-ea"/>
              </a:rPr>
              <a:t>자동 대체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한글 처리</a:t>
            </a:r>
            <a:r>
              <a:rPr lang="en-US" altLang="ko-KR" sz="1300" dirty="0">
                <a:latin typeface="+mn-ea"/>
              </a:rPr>
              <a:t>: </a:t>
            </a:r>
            <a:r>
              <a:rPr lang="en-US" altLang="ko-KR" sz="1300" dirty="0" err="1">
                <a:latin typeface="+mn-ea"/>
              </a:rPr>
              <a:t>kiwipiepy</a:t>
            </a:r>
            <a:r>
              <a:rPr lang="en-US" altLang="ko-KR" sz="1300" dirty="0">
                <a:latin typeface="+mn-ea"/>
              </a:rPr>
              <a:t> 0.21.0</a:t>
            </a:r>
          </a:p>
          <a:p>
            <a:pPr>
              <a:lnSpc>
                <a:spcPts val="2000"/>
              </a:lnSpc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+mn-ea"/>
              </a:rPr>
              <a:t>Frontend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Framework: Next.js 15.0.3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UI Library: React 18.3.1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Language: TypeScript 5.6.3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Styling: Tailwind CSS 3.4.14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Markdown: react-markdown 9.0.1, remark-</a:t>
            </a:r>
            <a:r>
              <a:rPr lang="en-US" altLang="ko-KR" sz="1300" dirty="0" err="1">
                <a:latin typeface="+mn-ea"/>
              </a:rPr>
              <a:t>gfm</a:t>
            </a:r>
            <a:r>
              <a:rPr lang="en-US" altLang="ko-KR" sz="1300" dirty="0">
                <a:latin typeface="+mn-ea"/>
              </a:rPr>
              <a:t> 4.0.0</a:t>
            </a:r>
            <a:endParaRPr lang="ko-KR" altLang="en-US" sz="1300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72EDD7-C58E-423F-BB67-8421C659B563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24AAE0-3D6A-4AB7-9AA8-A6910F37C85E}"/>
              </a:ext>
            </a:extLst>
          </p:cNvPr>
          <p:cNvSpPr txBox="1"/>
          <p:nvPr/>
        </p:nvSpPr>
        <p:spPr>
          <a:xfrm>
            <a:off x="528789" y="216921"/>
            <a:ext cx="16546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2. </a:t>
            </a:r>
            <a:r>
              <a:rPr lang="ko-KR" altLang="en-US" sz="2200" dirty="0"/>
              <a:t>기술 구성</a:t>
            </a:r>
            <a:endParaRPr lang="en-US" altLang="ko-KR" sz="2200" dirty="0"/>
          </a:p>
          <a:p>
            <a:r>
              <a:rPr lang="en-US" altLang="ko-KR" sz="2200" dirty="0"/>
              <a:t>     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165350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9D635-8CA6-48C4-A24C-B92CBA9D0DF9}"/>
              </a:ext>
            </a:extLst>
          </p:cNvPr>
          <p:cNvSpPr txBox="1"/>
          <p:nvPr/>
        </p:nvSpPr>
        <p:spPr>
          <a:xfrm>
            <a:off x="528789" y="1502290"/>
            <a:ext cx="4605186" cy="3911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+mn-ea"/>
              </a:rPr>
              <a:t>Agent </a:t>
            </a:r>
            <a:r>
              <a:rPr lang="ko-KR" altLang="en-US" sz="1300" dirty="0">
                <a:latin typeface="+mn-ea"/>
              </a:rPr>
              <a:t>구성 </a:t>
            </a:r>
            <a:r>
              <a:rPr lang="en-US" altLang="ko-KR" sz="1300" dirty="0">
                <a:latin typeface="+mn-ea"/>
              </a:rPr>
              <a:t>(7</a:t>
            </a:r>
            <a:r>
              <a:rPr lang="ko-KR" altLang="en-US" sz="1300" dirty="0">
                <a:latin typeface="+mn-ea"/>
              </a:rPr>
              <a:t>개 에이전트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0975" indent="1588">
              <a:lnSpc>
                <a:spcPts val="2000"/>
              </a:lnSpc>
              <a:buAutoNum type="arabicPeriod"/>
            </a:pPr>
            <a:r>
              <a:rPr lang="en-US" altLang="ko-KR" sz="1300" dirty="0">
                <a:latin typeface="+mn-ea"/>
              </a:rPr>
              <a:t>Router Agent (</a:t>
            </a:r>
            <a:r>
              <a:rPr lang="ko-KR" altLang="en-US" sz="1300" dirty="0">
                <a:latin typeface="+mn-ea"/>
              </a:rPr>
              <a:t>라우터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</a:t>
            </a:r>
            <a:r>
              <a:rPr lang="ko-KR" altLang="en-US" sz="1300" dirty="0">
                <a:latin typeface="+mn-ea"/>
              </a:rPr>
              <a:t> 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사용자 요청 분석 및 적절한 </a:t>
            </a:r>
            <a:r>
              <a:rPr lang="en-US" altLang="ko-KR" sz="1300" dirty="0">
                <a:latin typeface="+mn-ea"/>
              </a:rPr>
              <a:t>Agent</a:t>
            </a:r>
            <a:r>
              <a:rPr lang="ko-KR" altLang="en-US" sz="1300" dirty="0">
                <a:latin typeface="+mn-ea"/>
              </a:rPr>
              <a:t>로 라우팅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2. Search Agent (</a:t>
            </a:r>
            <a:r>
              <a:rPr lang="ko-KR" altLang="en-US" sz="1300" dirty="0">
                <a:latin typeface="+mn-ea"/>
              </a:rPr>
              <a:t>검색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하이브리드 검색 </a:t>
            </a:r>
            <a:r>
              <a:rPr lang="en-US" altLang="ko-KR" sz="1300" dirty="0">
                <a:latin typeface="+mn-ea"/>
              </a:rPr>
              <a:t>(</a:t>
            </a:r>
            <a:r>
              <a:rPr lang="ko-KR" altLang="en-US" sz="1300" dirty="0">
                <a:latin typeface="+mn-ea"/>
              </a:rPr>
              <a:t>벡터 </a:t>
            </a:r>
            <a:r>
              <a:rPr lang="en-US" altLang="ko-KR" sz="1300" dirty="0">
                <a:latin typeface="+mn-ea"/>
              </a:rPr>
              <a:t>+ </a:t>
            </a:r>
            <a:r>
              <a:rPr lang="ko-KR" altLang="en-US" sz="1300" dirty="0">
                <a:latin typeface="+mn-ea"/>
              </a:rPr>
              <a:t>키워드</a:t>
            </a:r>
            <a:r>
              <a:rPr lang="en-US" altLang="ko-KR" sz="1300" dirty="0">
                <a:latin typeface="+mn-ea"/>
              </a:rPr>
              <a:t>) </a:t>
            </a:r>
            <a:r>
              <a:rPr lang="ko-KR" altLang="en-US" sz="1300" dirty="0">
                <a:latin typeface="+mn-ea"/>
              </a:rPr>
              <a:t>수행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3. Context Judgement Agent (</a:t>
            </a:r>
            <a:r>
              <a:rPr lang="ko-KR" altLang="en-US" sz="1300" dirty="0">
                <a:latin typeface="+mn-ea"/>
              </a:rPr>
              <a:t>컨텍스트 판단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검색된 컨텍스트가 답변 생성에 충분한지 판단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4. Chunk Expansion Agent (</a:t>
            </a:r>
            <a:r>
              <a:rPr lang="ko-KR" altLang="en-US" sz="1300" dirty="0" err="1">
                <a:latin typeface="+mn-ea"/>
              </a:rPr>
              <a:t>청크</a:t>
            </a:r>
            <a:r>
              <a:rPr lang="ko-KR" altLang="en-US" sz="1300" dirty="0">
                <a:latin typeface="+mn-ea"/>
              </a:rPr>
              <a:t> 확장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컨텍스트가 불충분할 경우 관련 </a:t>
            </a:r>
            <a:r>
              <a:rPr lang="ko-KR" altLang="en-US" sz="1300" dirty="0" err="1">
                <a:latin typeface="+mn-ea"/>
              </a:rPr>
              <a:t>청크를</a:t>
            </a:r>
            <a:r>
              <a:rPr lang="ko-KR" altLang="en-US" sz="1300" dirty="0">
                <a:latin typeface="+mn-ea"/>
              </a:rPr>
              <a:t> 확장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5. Answer Agent (</a:t>
            </a:r>
            <a:r>
              <a:rPr lang="ko-KR" altLang="en-US" sz="1300" dirty="0">
                <a:latin typeface="+mn-ea"/>
              </a:rPr>
              <a:t>답변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LLM </a:t>
            </a:r>
            <a:r>
              <a:rPr lang="ko-KR" altLang="en-US" sz="1300" dirty="0">
                <a:latin typeface="+mn-ea"/>
              </a:rPr>
              <a:t>기반 답변 생성 및 검증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6. Processing Agent (</a:t>
            </a:r>
            <a:r>
              <a:rPr lang="ko-KR" altLang="en-US" sz="1300" dirty="0" err="1">
                <a:latin typeface="+mn-ea"/>
              </a:rPr>
              <a:t>전처리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PDF </a:t>
            </a:r>
            <a:r>
              <a:rPr lang="ko-KR" altLang="en-US" sz="1300" dirty="0">
                <a:latin typeface="+mn-ea"/>
              </a:rPr>
              <a:t>업로드 및 하이브리드 </a:t>
            </a:r>
            <a:r>
              <a:rPr lang="ko-KR" altLang="en-US" sz="1300" dirty="0" err="1">
                <a:latin typeface="+mn-ea"/>
              </a:rPr>
              <a:t>전처리</a:t>
            </a:r>
            <a:r>
              <a:rPr lang="ko-KR" altLang="en-US" sz="1300" dirty="0">
                <a:latin typeface="+mn-ea"/>
              </a:rPr>
              <a:t> 담당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7. Management Agent (</a:t>
            </a:r>
            <a:r>
              <a:rPr lang="ko-KR" altLang="en-US" sz="1300" dirty="0">
                <a:latin typeface="+mn-ea"/>
              </a:rPr>
              <a:t>관리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약관 목록 조회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삭제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다운로드</a:t>
            </a:r>
            <a:endParaRPr lang="en-US" altLang="ko-KR" sz="1300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72EDD7-C58E-423F-BB67-8421C659B563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E5257F07-CAC5-4B7F-86A9-40D37F92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198" y="1967765"/>
            <a:ext cx="4695825" cy="4952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CB7CA8-EF24-406F-9388-12BAF3C04E06}"/>
              </a:ext>
            </a:extLst>
          </p:cNvPr>
          <p:cNvSpPr txBox="1"/>
          <p:nvPr/>
        </p:nvSpPr>
        <p:spPr>
          <a:xfrm>
            <a:off x="5278529" y="1502290"/>
            <a:ext cx="2423961" cy="32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latin typeface="+mn-ea"/>
              </a:rPr>
              <a:t>LangGraph</a:t>
            </a:r>
            <a:r>
              <a:rPr lang="en-US" altLang="ko-KR" sz="1300" dirty="0">
                <a:latin typeface="+mn-ea"/>
              </a:rPr>
              <a:t> </a:t>
            </a:r>
            <a:r>
              <a:rPr lang="ko-KR" altLang="en-US" sz="1300" dirty="0">
                <a:latin typeface="+mn-ea"/>
              </a:rPr>
              <a:t>워크플로우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49996-6612-4CEF-8934-DC33518C78B6}"/>
              </a:ext>
            </a:extLst>
          </p:cNvPr>
          <p:cNvSpPr txBox="1"/>
          <p:nvPr/>
        </p:nvSpPr>
        <p:spPr>
          <a:xfrm>
            <a:off x="528789" y="216921"/>
            <a:ext cx="16546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2. </a:t>
            </a:r>
            <a:r>
              <a:rPr lang="ko-KR" altLang="en-US" sz="2200" dirty="0"/>
              <a:t>기술 구성</a:t>
            </a:r>
            <a:endParaRPr lang="en-US" altLang="ko-KR" sz="2200" dirty="0"/>
          </a:p>
          <a:p>
            <a:r>
              <a:rPr lang="en-US" altLang="ko-KR" sz="2200" dirty="0"/>
              <a:t>     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4169385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65DF06-8A80-4A10-81CA-B752534348BB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13A5D443-C53B-44DB-AB50-AA2E3A276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355693"/>
            <a:ext cx="8141746" cy="57069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3E9C0B-BA2E-42E1-A8CD-32D3CE27BCED}"/>
              </a:ext>
            </a:extLst>
          </p:cNvPr>
          <p:cNvSpPr txBox="1"/>
          <p:nvPr/>
        </p:nvSpPr>
        <p:spPr>
          <a:xfrm>
            <a:off x="528789" y="216921"/>
            <a:ext cx="26292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3. User Flow Diagram</a:t>
            </a:r>
          </a:p>
        </p:txBody>
      </p:sp>
    </p:spTree>
    <p:extLst>
      <p:ext uri="{BB962C8B-B14F-4D97-AF65-F5344CB8AC3E}">
        <p14:creationId xmlns:p14="http://schemas.microsoft.com/office/powerpoint/2010/main" val="311849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ED9389-9223-4DB2-ADA0-6881ABCC13AB}"/>
              </a:ext>
            </a:extLst>
          </p:cNvPr>
          <p:cNvSpPr txBox="1"/>
          <p:nvPr/>
        </p:nvSpPr>
        <p:spPr>
          <a:xfrm>
            <a:off x="528789" y="216921"/>
            <a:ext cx="2916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ko-KR" altLang="en-US" sz="1600" dirty="0">
                <a:latin typeface="+mn-ea"/>
              </a:rPr>
              <a:t>시스템 전체 구조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5ABDFD-1E05-4F97-A6D9-709A59AB7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79" y="1232583"/>
            <a:ext cx="7583254" cy="587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7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D47E3A-44E9-4A4C-9D8D-6651F6661FDA}"/>
              </a:ext>
            </a:extLst>
          </p:cNvPr>
          <p:cNvSpPr txBox="1"/>
          <p:nvPr/>
        </p:nvSpPr>
        <p:spPr>
          <a:xfrm>
            <a:off x="528789" y="216921"/>
            <a:ext cx="2899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en-US" altLang="ko-KR" sz="1600" dirty="0">
                <a:latin typeface="+mn-ea"/>
              </a:rPr>
              <a:t>Multi-Agent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8A73AF-6C4B-4249-93E1-8133E682E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418" y="1232583"/>
            <a:ext cx="6194976" cy="594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2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FDE931A9-2322-465F-99E5-37243859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89" y="1148908"/>
            <a:ext cx="6434433" cy="59969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A71B58-2AAB-4EB2-8D60-E60D9A793A1B}"/>
              </a:ext>
            </a:extLst>
          </p:cNvPr>
          <p:cNvSpPr txBox="1"/>
          <p:nvPr/>
        </p:nvSpPr>
        <p:spPr>
          <a:xfrm>
            <a:off x="528789" y="216921"/>
            <a:ext cx="2899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en-US" altLang="ko-KR" sz="1600" dirty="0">
                <a:latin typeface="+mn-ea"/>
              </a:rPr>
              <a:t>PDF </a:t>
            </a:r>
            <a:r>
              <a:rPr lang="ko-KR" altLang="en-US" sz="1600" dirty="0" err="1">
                <a:latin typeface="+mn-ea"/>
              </a:rPr>
              <a:t>전처리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4727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5B53F2-E3AC-4E31-B109-A2031102F83C}"/>
              </a:ext>
            </a:extLst>
          </p:cNvPr>
          <p:cNvSpPr txBox="1"/>
          <p:nvPr/>
        </p:nvSpPr>
        <p:spPr>
          <a:xfrm>
            <a:off x="528789" y="216921"/>
            <a:ext cx="29322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ko-KR" altLang="en-US" sz="1600" dirty="0">
                <a:latin typeface="+mn-ea"/>
              </a:rPr>
              <a:t>검색 및 답변 생성 플로우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3FC205-7881-4C59-9ED4-E3E503A8E5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146"/>
          <a:stretch/>
        </p:blipFill>
        <p:spPr>
          <a:xfrm>
            <a:off x="528789" y="1232583"/>
            <a:ext cx="5334565" cy="53407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82169E-7AFD-4F2D-9F26-E52812BADD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991"/>
          <a:stretch/>
        </p:blipFill>
        <p:spPr>
          <a:xfrm>
            <a:off x="4828459" y="1232583"/>
            <a:ext cx="5334564" cy="406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12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CF143027-89A2-4F6A-9A62-0E933DEC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58" y="1520581"/>
            <a:ext cx="8259296" cy="5517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543856-2697-4D47-86F1-BC1418724E4F}"/>
              </a:ext>
            </a:extLst>
          </p:cNvPr>
          <p:cNvSpPr txBox="1"/>
          <p:nvPr/>
        </p:nvSpPr>
        <p:spPr>
          <a:xfrm>
            <a:off x="528789" y="216921"/>
            <a:ext cx="29931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ko-KR" altLang="en-US" sz="1600" dirty="0">
                <a:latin typeface="+mn-ea"/>
              </a:rPr>
              <a:t>데이터베이스 스키마 구조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0641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F2A51B1-A422-4568-91F4-BD0434D02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41" y="1374276"/>
            <a:ext cx="8709329" cy="5771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6075E1-29F2-442C-8A56-52A2136D2840}"/>
              </a:ext>
            </a:extLst>
          </p:cNvPr>
          <p:cNvSpPr txBox="1"/>
          <p:nvPr/>
        </p:nvSpPr>
        <p:spPr>
          <a:xfrm>
            <a:off x="528789" y="216921"/>
            <a:ext cx="2899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기술 스택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5416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E2BFE-72A5-4006-9DDF-1D7355AA43FB}"/>
              </a:ext>
            </a:extLst>
          </p:cNvPr>
          <p:cNvSpPr txBox="1"/>
          <p:nvPr/>
        </p:nvSpPr>
        <p:spPr>
          <a:xfrm>
            <a:off x="528789" y="216921"/>
            <a:ext cx="2501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5. </a:t>
            </a:r>
            <a:r>
              <a:rPr lang="ko-KR" altLang="en-US" sz="2200" dirty="0"/>
              <a:t>프로젝트 산출물</a:t>
            </a:r>
            <a:endParaRPr lang="en-US" altLang="ko-KR" sz="2200" dirty="0"/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화면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E04C53-B021-4000-875D-6FFE32EA6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9" y="1232583"/>
            <a:ext cx="5682143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AC9EEE-D007-4C33-8BA0-01D3DDB06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0" y="3559341"/>
            <a:ext cx="5682143" cy="36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5D0D25-7EF2-4C23-B468-25DCAA7F4842}"/>
              </a:ext>
            </a:extLst>
          </p:cNvPr>
          <p:cNvSpPr txBox="1"/>
          <p:nvPr/>
        </p:nvSpPr>
        <p:spPr>
          <a:xfrm>
            <a:off x="6314172" y="1232583"/>
            <a:ext cx="8146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AI </a:t>
            </a:r>
            <a:r>
              <a:rPr lang="ko-KR" altLang="en-US" sz="1500" dirty="0">
                <a:latin typeface="+mn-ea"/>
              </a:rPr>
              <a:t>채팅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A213A-481C-46A9-9D6C-3B04A8B8BF9C}"/>
              </a:ext>
            </a:extLst>
          </p:cNvPr>
          <p:cNvSpPr txBox="1"/>
          <p:nvPr/>
        </p:nvSpPr>
        <p:spPr>
          <a:xfrm>
            <a:off x="3459447" y="6836176"/>
            <a:ext cx="10214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최근 대화</a:t>
            </a:r>
          </a:p>
        </p:txBody>
      </p:sp>
    </p:spTree>
    <p:extLst>
      <p:ext uri="{BB962C8B-B14F-4D97-AF65-F5344CB8AC3E}">
        <p14:creationId xmlns:p14="http://schemas.microsoft.com/office/powerpoint/2010/main" val="3914246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E2BFE-72A5-4006-9DDF-1D7355AA43FB}"/>
              </a:ext>
            </a:extLst>
          </p:cNvPr>
          <p:cNvSpPr txBox="1"/>
          <p:nvPr/>
        </p:nvSpPr>
        <p:spPr>
          <a:xfrm>
            <a:off x="528789" y="216921"/>
            <a:ext cx="2501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5. </a:t>
            </a:r>
            <a:r>
              <a:rPr lang="ko-KR" altLang="en-US" sz="2200" dirty="0"/>
              <a:t>프로젝트 산출물</a:t>
            </a:r>
            <a:endParaRPr lang="en-US" altLang="ko-KR" sz="2200" dirty="0"/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화면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3060B2-B7F4-4F7F-8869-CD593F4D3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9" y="1232583"/>
            <a:ext cx="5682142" cy="36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D60A811-B01A-4395-880A-891738CB4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0" y="3617327"/>
            <a:ext cx="5682143" cy="360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9057E9-2837-4010-9D35-BD685654E57C}"/>
              </a:ext>
            </a:extLst>
          </p:cNvPr>
          <p:cNvSpPr txBox="1"/>
          <p:nvPr/>
        </p:nvSpPr>
        <p:spPr>
          <a:xfrm>
            <a:off x="6314172" y="1232583"/>
            <a:ext cx="21996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AI </a:t>
            </a:r>
            <a:r>
              <a:rPr lang="ko-KR" altLang="en-US" sz="1500" dirty="0">
                <a:latin typeface="+mn-ea"/>
              </a:rPr>
              <a:t>채팅</a:t>
            </a:r>
            <a:br>
              <a:rPr lang="en-US" altLang="ko-KR" sz="1500" dirty="0">
                <a:latin typeface="+mn-ea"/>
              </a:rPr>
            </a:br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질의 </a:t>
            </a:r>
            <a:r>
              <a:rPr lang="en-US" altLang="ko-KR" sz="1500" dirty="0">
                <a:latin typeface="+mn-ea"/>
              </a:rPr>
              <a:t>/</a:t>
            </a:r>
            <a:r>
              <a:rPr lang="ko-KR" altLang="en-US" sz="1500" dirty="0">
                <a:latin typeface="+mn-ea"/>
              </a:rPr>
              <a:t> 답변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참조문서</a:t>
            </a:r>
            <a:r>
              <a:rPr lang="en-US" altLang="ko-KR" sz="1500" dirty="0">
                <a:latin typeface="+mn-ea"/>
              </a:rPr>
              <a:t>)</a:t>
            </a:r>
            <a:endParaRPr lang="ko-KR" altLang="en-US" sz="15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283175-8D60-4931-8882-CE53B74D645B}"/>
              </a:ext>
            </a:extLst>
          </p:cNvPr>
          <p:cNvSpPr txBox="1"/>
          <p:nvPr/>
        </p:nvSpPr>
        <p:spPr>
          <a:xfrm>
            <a:off x="2669166" y="6663329"/>
            <a:ext cx="18117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AI </a:t>
            </a:r>
            <a:r>
              <a:rPr lang="ko-KR" altLang="en-US" sz="1500" dirty="0">
                <a:latin typeface="+mn-ea"/>
              </a:rPr>
              <a:t>채팅</a:t>
            </a:r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참조문서 클릭 시</a:t>
            </a:r>
          </a:p>
        </p:txBody>
      </p:sp>
    </p:spTree>
    <p:extLst>
      <p:ext uri="{BB962C8B-B14F-4D97-AF65-F5344CB8AC3E}">
        <p14:creationId xmlns:p14="http://schemas.microsoft.com/office/powerpoint/2010/main" val="1251035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E2BFE-72A5-4006-9DDF-1D7355AA43FB}"/>
              </a:ext>
            </a:extLst>
          </p:cNvPr>
          <p:cNvSpPr txBox="1"/>
          <p:nvPr/>
        </p:nvSpPr>
        <p:spPr>
          <a:xfrm>
            <a:off x="528789" y="216921"/>
            <a:ext cx="2501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5. </a:t>
            </a:r>
            <a:r>
              <a:rPr lang="ko-KR" altLang="en-US" sz="2200" dirty="0"/>
              <a:t>프로젝트 산출물</a:t>
            </a:r>
            <a:endParaRPr lang="en-US" altLang="ko-KR" sz="2200" dirty="0"/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화면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AE8958-8FB2-4605-A363-62E149F60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9" y="1232583"/>
            <a:ext cx="5682143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7FC263-083A-4698-890D-4352DCEE0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0" y="3634560"/>
            <a:ext cx="5682143" cy="36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745F4-7DAB-4F84-BD3E-46F3B8493BE1}"/>
              </a:ext>
            </a:extLst>
          </p:cNvPr>
          <p:cNvSpPr txBox="1"/>
          <p:nvPr/>
        </p:nvSpPr>
        <p:spPr>
          <a:xfrm>
            <a:off x="6314172" y="1232583"/>
            <a:ext cx="13596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약관 관리</a:t>
            </a:r>
            <a:br>
              <a:rPr lang="en-US" altLang="ko-KR" sz="1500" dirty="0">
                <a:latin typeface="+mn-ea"/>
              </a:rPr>
            </a:br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약관 업로드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C483B-688C-4FF0-A3F5-2887D172E2AF}"/>
              </a:ext>
            </a:extLst>
          </p:cNvPr>
          <p:cNvSpPr txBox="1"/>
          <p:nvPr/>
        </p:nvSpPr>
        <p:spPr>
          <a:xfrm>
            <a:off x="3237057" y="6680562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약관 관리</a:t>
            </a:r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약관 목록</a:t>
            </a:r>
          </a:p>
        </p:txBody>
      </p:sp>
    </p:spTree>
    <p:extLst>
      <p:ext uri="{BB962C8B-B14F-4D97-AF65-F5344CB8AC3E}">
        <p14:creationId xmlns:p14="http://schemas.microsoft.com/office/powerpoint/2010/main" val="4030779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E2BFE-72A5-4006-9DDF-1D7355AA43FB}"/>
              </a:ext>
            </a:extLst>
          </p:cNvPr>
          <p:cNvSpPr txBox="1"/>
          <p:nvPr/>
        </p:nvSpPr>
        <p:spPr>
          <a:xfrm>
            <a:off x="528789" y="216921"/>
            <a:ext cx="2501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5. </a:t>
            </a:r>
            <a:r>
              <a:rPr lang="ko-KR" altLang="en-US" sz="2200" dirty="0"/>
              <a:t>프로젝트 산출물</a:t>
            </a:r>
            <a:endParaRPr lang="en-US" altLang="ko-KR" sz="2200" dirty="0"/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화면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1FD77B-F8AC-4046-BAA7-82A0FF4DB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9" y="1232583"/>
            <a:ext cx="5682143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40B49B-E755-4AC3-ABBE-9257EC94F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0" y="3634560"/>
            <a:ext cx="5682143" cy="36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D64D21-936D-4A2B-A9CA-B65703F2936A}"/>
              </a:ext>
            </a:extLst>
          </p:cNvPr>
          <p:cNvSpPr txBox="1"/>
          <p:nvPr/>
        </p:nvSpPr>
        <p:spPr>
          <a:xfrm>
            <a:off x="6314172" y="1232583"/>
            <a:ext cx="20297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약관 관리</a:t>
            </a:r>
            <a:br>
              <a:rPr lang="en-US" altLang="ko-KR" sz="1500" dirty="0">
                <a:latin typeface="+mn-ea"/>
              </a:rPr>
            </a:br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약관 원본 </a:t>
            </a:r>
            <a:r>
              <a:rPr lang="en-US" altLang="ko-KR" sz="1500" dirty="0">
                <a:latin typeface="+mn-ea"/>
              </a:rPr>
              <a:t>PDF </a:t>
            </a:r>
            <a:r>
              <a:rPr lang="ko-KR" altLang="en-US" sz="1500" dirty="0">
                <a:latin typeface="+mn-ea"/>
              </a:rPr>
              <a:t>조회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96D7D-3E01-4FB1-AA06-EA6E9A2597F4}"/>
              </a:ext>
            </a:extLst>
          </p:cNvPr>
          <p:cNvSpPr txBox="1"/>
          <p:nvPr/>
        </p:nvSpPr>
        <p:spPr>
          <a:xfrm>
            <a:off x="1779292" y="6680562"/>
            <a:ext cx="27158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약관 관리</a:t>
            </a:r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약관 텍스트 추출 파일</a:t>
            </a:r>
            <a:r>
              <a:rPr lang="en-US" altLang="ko-KR" sz="1500" dirty="0">
                <a:latin typeface="+mn-ea"/>
              </a:rPr>
              <a:t> </a:t>
            </a:r>
            <a:r>
              <a:rPr lang="ko-KR" altLang="en-US" sz="1500" dirty="0">
                <a:latin typeface="+mn-ea"/>
              </a:rPr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3213682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8B8F81-83CC-444D-99A6-1AA17807CB2D}"/>
              </a:ext>
            </a:extLst>
          </p:cNvPr>
          <p:cNvSpPr txBox="1"/>
          <p:nvPr/>
        </p:nvSpPr>
        <p:spPr>
          <a:xfrm>
            <a:off x="528789" y="1375732"/>
            <a:ext cx="6824311" cy="416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1. </a:t>
            </a:r>
            <a:r>
              <a:rPr lang="ko-KR" altLang="en-US" sz="1300" dirty="0">
                <a:latin typeface="+mn-ea"/>
              </a:rPr>
              <a:t>사용자 인증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로그인</a:t>
            </a:r>
            <a:r>
              <a:rPr lang="en-US" altLang="ko-KR" sz="1300" dirty="0">
                <a:latin typeface="+mn-ea"/>
              </a:rPr>
              <a:t>/</a:t>
            </a:r>
            <a:r>
              <a:rPr lang="ko-KR" altLang="en-US" sz="1300" dirty="0">
                <a:latin typeface="+mn-ea"/>
              </a:rPr>
              <a:t>회원가입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세션 관리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권한 관리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2. </a:t>
            </a:r>
            <a:r>
              <a:rPr lang="ko-KR" altLang="en-US" sz="1300" dirty="0">
                <a:latin typeface="+mn-ea"/>
              </a:rPr>
              <a:t>피드백 시스템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답변 평가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개선 학습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품질 모니터링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3. </a:t>
            </a:r>
            <a:r>
              <a:rPr lang="ko-KR" altLang="en-US" sz="1300" dirty="0">
                <a:latin typeface="+mn-ea"/>
              </a:rPr>
              <a:t>약관 비교 기능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여러 보험사 비교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차이점 분석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시각화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4. </a:t>
            </a:r>
            <a:r>
              <a:rPr lang="ko-KR" altLang="en-US" sz="1300" dirty="0">
                <a:latin typeface="+mn-ea"/>
              </a:rPr>
              <a:t>자동 요약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주요 내용 요약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핵심 조항 추출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요약 카드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5. </a:t>
            </a:r>
            <a:r>
              <a:rPr lang="ko-KR" altLang="en-US" sz="1300" dirty="0">
                <a:latin typeface="+mn-ea"/>
              </a:rPr>
              <a:t>대화형 개선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다중 턴 대화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컨텍스트 유지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추가 질문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6. Fine-tuning: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도메인 특화 모델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보험 전문 </a:t>
            </a:r>
            <a:r>
              <a:rPr lang="en-US" altLang="ko-KR" sz="1300" dirty="0">
                <a:latin typeface="+mn-ea"/>
              </a:rPr>
              <a:t>LLM, </a:t>
            </a:r>
            <a:r>
              <a:rPr lang="ko-KR" altLang="en-US" sz="1300" dirty="0">
                <a:latin typeface="+mn-ea"/>
              </a:rPr>
              <a:t>성능 향상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7. </a:t>
            </a:r>
            <a:r>
              <a:rPr lang="ko-KR" altLang="en-US" sz="1300" dirty="0">
                <a:latin typeface="+mn-ea"/>
              </a:rPr>
              <a:t>실시간 업데이트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약관 변경 알림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자동 재처리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증분 업데이트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8. </a:t>
            </a:r>
            <a:r>
              <a:rPr lang="ko-KR" altLang="en-US" sz="1300" dirty="0">
                <a:latin typeface="+mn-ea"/>
              </a:rPr>
              <a:t>고급 분석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사용 패턴 분석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인기 질문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대시보드</a:t>
            </a:r>
            <a:endParaRPr lang="en-US" altLang="ko-KR" sz="1300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11836DD-5FDB-4EAE-8C6E-1B1C0F8C800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463FAA-F699-4044-93E3-D8CDB6046933}"/>
              </a:ext>
            </a:extLst>
          </p:cNvPr>
          <p:cNvSpPr txBox="1"/>
          <p:nvPr/>
        </p:nvSpPr>
        <p:spPr>
          <a:xfrm>
            <a:off x="528789" y="216921"/>
            <a:ext cx="44502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6. </a:t>
            </a:r>
            <a:r>
              <a:rPr lang="ko-KR" altLang="en-US" sz="2200" dirty="0"/>
              <a:t>추가 구현 사항 및 개선 아이디어</a:t>
            </a:r>
            <a:endParaRPr lang="en-US" altLang="ko-KR" sz="2200" dirty="0"/>
          </a:p>
          <a:p>
            <a:r>
              <a:rPr lang="en-US" altLang="ko-KR" sz="2200" dirty="0"/>
              <a:t>    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6536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E8C319-7612-4EB5-B373-5AA6144AD65A}"/>
              </a:ext>
            </a:extLst>
          </p:cNvPr>
          <p:cNvSpPr txBox="1"/>
          <p:nvPr/>
        </p:nvSpPr>
        <p:spPr>
          <a:xfrm>
            <a:off x="528789" y="1374277"/>
            <a:ext cx="9634234" cy="520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+mn-ea"/>
              </a:rPr>
              <a:t>프로젝트 기획 이유</a:t>
            </a:r>
            <a:endParaRPr lang="en-US" altLang="ko-KR" sz="1300" dirty="0">
              <a:latin typeface="+mn-ea"/>
            </a:endParaRPr>
          </a:p>
          <a:p>
            <a:pPr marL="182563">
              <a:lnSpc>
                <a:spcPts val="2000"/>
              </a:lnSpc>
            </a:pPr>
            <a:r>
              <a:rPr lang="ko-KR" altLang="en-US" sz="1200" dirty="0"/>
              <a:t>보험약관은 방대한 텍스트로 구성되어 있어 일반 사용자는 물론</a:t>
            </a:r>
            <a:r>
              <a:rPr lang="en-US" altLang="ko-KR" sz="1200" dirty="0"/>
              <a:t>, </a:t>
            </a:r>
            <a:r>
              <a:rPr lang="ko-KR" altLang="en-US" sz="1200" dirty="0"/>
              <a:t>보험 설계사나 고객센터 직원조차 필요한 정보를 신속하게 찾기 어렵습니다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특히 약관 문장은 법률적이고 복잡한 표현이 많아 이해하는 데 많은 시간이 소요됩니다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ko-KR" altLang="en-US" sz="1200" dirty="0"/>
              <a:t>이 프로젝트는 생성형 </a:t>
            </a:r>
            <a:r>
              <a:rPr lang="en-US" altLang="ko-KR" sz="1200" dirty="0"/>
              <a:t>AI</a:t>
            </a:r>
            <a:r>
              <a:rPr lang="ko-KR" altLang="en-US" sz="1200" dirty="0"/>
              <a:t>와 벡터 기반 검색 기술을 활용하여 보험약관의 복잡성을 해소하고</a:t>
            </a:r>
            <a:r>
              <a:rPr lang="en-US" altLang="ko-KR" sz="1200" dirty="0"/>
              <a:t>, </a:t>
            </a:r>
            <a:r>
              <a:rPr lang="ko-KR" altLang="en-US" sz="1200" dirty="0"/>
              <a:t>누구나 자연어로 쉽고 정확하게 약관 내용을 확인할 수 있는 지능형 서비스를 구축하기 위해 기획되었습니다</a:t>
            </a:r>
            <a:r>
              <a:rPr lang="en-US" altLang="ko-KR" sz="1200" dirty="0"/>
              <a:t>.</a:t>
            </a:r>
            <a:endParaRPr lang="en-US" altLang="ko-KR" sz="1200" b="0" i="0" dirty="0">
              <a:effectLst/>
              <a:latin typeface="fkGroteskNeue"/>
            </a:endParaRPr>
          </a:p>
          <a:p>
            <a:pPr marL="268288">
              <a:lnSpc>
                <a:spcPts val="2000"/>
              </a:lnSpc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+mn-ea"/>
              </a:rPr>
              <a:t>해결하고자 하는 문제</a:t>
            </a:r>
            <a:endParaRPr lang="en-US" altLang="ko-KR" sz="1300" dirty="0">
              <a:latin typeface="+mn-ea"/>
            </a:endParaRPr>
          </a:p>
          <a:p>
            <a:pPr marL="182563" algn="l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고객이 약관 내용을 해석하기 어렵거나 오해하여 발생하는 불만 및 민원</a:t>
            </a:r>
          </a:p>
          <a:p>
            <a:pPr marL="182563" algn="l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보험 설계사 및 고객센터 인력의 반복적인 약관 조회</a:t>
            </a:r>
            <a:r>
              <a:rPr lang="en-US" altLang="ko-KR" sz="1300" b="0" i="0" dirty="0">
                <a:effectLst/>
                <a:latin typeface="fkGroteskNeue"/>
              </a:rPr>
              <a:t>·</a:t>
            </a:r>
            <a:r>
              <a:rPr lang="ko-KR" altLang="en-US" sz="1300" b="0" i="0" dirty="0">
                <a:effectLst/>
                <a:latin typeface="fkGroteskNeue"/>
              </a:rPr>
              <a:t>설명 업무 부담</a:t>
            </a:r>
          </a:p>
          <a:p>
            <a:pPr marL="182563" algn="l">
              <a:lnSpc>
                <a:spcPts val="2000"/>
              </a:lnSpc>
            </a:pPr>
            <a:r>
              <a:rPr lang="en-US" altLang="ko-KR" sz="1300" dirty="0">
                <a:latin typeface="fkGroteskNeue"/>
              </a:rPr>
              <a:t>-</a:t>
            </a:r>
            <a:r>
              <a:rPr lang="ko-KR" altLang="en-US" sz="1300" dirty="0">
                <a:latin typeface="fkGroteskNeue"/>
              </a:rPr>
              <a:t> </a:t>
            </a:r>
            <a:r>
              <a:rPr lang="ko-KR" altLang="en-US" sz="1300" b="0" i="0" dirty="0">
                <a:effectLst/>
                <a:latin typeface="fkGroteskNeue"/>
              </a:rPr>
              <a:t>약관 개정이나 신상품 출시 시 기존 데이터와의 비교</a:t>
            </a:r>
            <a:r>
              <a:rPr lang="en-US" altLang="ko-KR" sz="1300" b="0" i="0" dirty="0">
                <a:effectLst/>
                <a:latin typeface="fkGroteskNeue"/>
              </a:rPr>
              <a:t>·</a:t>
            </a:r>
            <a:r>
              <a:rPr lang="ko-KR" altLang="en-US" sz="1300" b="0" i="0" dirty="0">
                <a:effectLst/>
                <a:latin typeface="fkGroteskNeue"/>
              </a:rPr>
              <a:t>검증 과정의 비효율성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+mn-ea"/>
              </a:rPr>
              <a:t>AI Agent</a:t>
            </a:r>
            <a:r>
              <a:rPr lang="ko-KR" altLang="en-US" sz="1300" dirty="0">
                <a:latin typeface="+mn-ea"/>
              </a:rPr>
              <a:t>의 핵심 기능</a:t>
            </a:r>
            <a:endParaRPr lang="en-US" altLang="ko-KR" sz="1300" dirty="0">
              <a:latin typeface="+mn-ea"/>
            </a:endParaRP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약관등록</a:t>
            </a:r>
            <a:endParaRPr lang="en-US" altLang="ko-KR" sz="1300" dirty="0">
              <a:latin typeface="+mn-ea"/>
            </a:endParaRP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AI </a:t>
            </a:r>
            <a:r>
              <a:rPr lang="ko-KR" altLang="en-US" sz="1300" dirty="0">
                <a:latin typeface="+mn-ea"/>
              </a:rPr>
              <a:t>채팅</a:t>
            </a:r>
            <a:endParaRPr lang="en-US" altLang="ko-KR" sz="1300" dirty="0">
              <a:latin typeface="+mn-ea"/>
            </a:endParaRP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대화이력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약관관리</a:t>
            </a:r>
            <a:endParaRPr lang="en-US" altLang="ko-KR" sz="1300" dirty="0">
              <a:latin typeface="+mn-ea"/>
            </a:endParaRPr>
          </a:p>
          <a:p>
            <a:pPr marL="554037" indent="-285750">
              <a:lnSpc>
                <a:spcPts val="2000"/>
              </a:lnSpc>
              <a:buFontTx/>
              <a:buChar char="-"/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+mn-ea"/>
              </a:rPr>
              <a:t>기대하는 사용자 경험 및 주요 특징</a:t>
            </a:r>
            <a:endParaRPr lang="en-US" altLang="ko-KR" sz="1300" dirty="0">
              <a:latin typeface="+mn-ea"/>
            </a:endParaRPr>
          </a:p>
          <a:p>
            <a:pPr marL="182563" algn="l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투명성</a:t>
            </a:r>
            <a:r>
              <a:rPr lang="en-US" altLang="ko-KR" sz="1300" b="0" i="0" dirty="0">
                <a:effectLst/>
                <a:latin typeface="fkGroteskNeue"/>
              </a:rPr>
              <a:t>: </a:t>
            </a:r>
            <a:r>
              <a:rPr lang="ko-KR" altLang="en-US" sz="1300" b="0" i="0" dirty="0">
                <a:effectLst/>
                <a:latin typeface="fkGroteskNeue"/>
              </a:rPr>
              <a:t>사용자가 </a:t>
            </a:r>
            <a:r>
              <a:rPr lang="en-US" altLang="ko-KR" sz="1300" b="0" i="0" dirty="0">
                <a:effectLst/>
                <a:latin typeface="fkGroteskNeue"/>
              </a:rPr>
              <a:t>AI</a:t>
            </a:r>
            <a:r>
              <a:rPr lang="ko-KR" altLang="en-US" sz="1300" b="0" i="0" dirty="0">
                <a:effectLst/>
                <a:latin typeface="fkGroteskNeue"/>
              </a:rPr>
              <a:t>의 근거 조항을 직접 확인 가능</a:t>
            </a:r>
          </a:p>
          <a:p>
            <a:pPr marL="182563" algn="l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신뢰성</a:t>
            </a:r>
            <a:r>
              <a:rPr lang="en-US" altLang="ko-KR" sz="1300" b="0" i="0" dirty="0">
                <a:effectLst/>
                <a:latin typeface="fkGroteskNeue"/>
              </a:rPr>
              <a:t>: </a:t>
            </a:r>
            <a:r>
              <a:rPr lang="ko-KR" altLang="en-US" sz="1300" b="0" i="0" dirty="0">
                <a:effectLst/>
                <a:latin typeface="fkGroteskNeue"/>
              </a:rPr>
              <a:t>오답 최소화를 위한 지속적 약관 업데이트 및 검증 시스템</a:t>
            </a:r>
          </a:p>
          <a:p>
            <a:pPr marL="182563" algn="l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업무 자동화 및 효율화</a:t>
            </a:r>
            <a:r>
              <a:rPr lang="en-US" altLang="ko-KR" sz="1300" b="0" i="0" dirty="0">
                <a:effectLst/>
                <a:latin typeface="fkGroteskNeue"/>
              </a:rPr>
              <a:t>: </a:t>
            </a:r>
            <a:r>
              <a:rPr lang="ko-KR" altLang="en-US" sz="1300" b="0" i="0" dirty="0">
                <a:effectLst/>
                <a:latin typeface="fkGroteskNeue"/>
              </a:rPr>
              <a:t>직원이 반복 작업에서 벗어나 고객 응대 및 전략적 업무에 집중할 수 있도록 지원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189FB3E-8CBF-479B-BF87-F9391A137AD5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3A185C-0150-44D1-A92A-0574030CA6CD}"/>
              </a:ext>
            </a:extLst>
          </p:cNvPr>
          <p:cNvSpPr txBox="1"/>
          <p:nvPr/>
        </p:nvSpPr>
        <p:spPr>
          <a:xfrm>
            <a:off x="528789" y="216921"/>
            <a:ext cx="10262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1. </a:t>
            </a:r>
            <a:r>
              <a:rPr lang="ko-KR" altLang="en-US" sz="2200" dirty="0"/>
              <a:t>개요</a:t>
            </a:r>
            <a:endParaRPr lang="en-US" altLang="ko-KR" sz="2200" dirty="0"/>
          </a:p>
          <a:p>
            <a:r>
              <a:rPr lang="en-US" altLang="ko-KR" sz="2200" dirty="0"/>
              <a:t>     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1746686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0E04C53-B021-4000-875D-6FFE32EA6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4"/>
            <a:ext cx="10691813" cy="677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87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0512EA2-191D-425A-923A-CBCC4901A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4"/>
            <a:ext cx="10691813" cy="677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65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F3CFE92-7E9D-403E-9B3E-7F8AB4F21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4"/>
            <a:ext cx="10691813" cy="677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0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F29E4ED5-DC28-4E0F-8027-8183ADAF0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4"/>
            <a:ext cx="10691813" cy="677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3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A5BC0B3-A5AA-4D86-825D-E4A70926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4"/>
            <a:ext cx="10691813" cy="677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13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982CED6-A401-4CA6-A936-CCD30817A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4"/>
            <a:ext cx="10691813" cy="677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27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ADBA0BB-CAC5-4F52-B1E2-9C1A2791F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4"/>
            <a:ext cx="10691813" cy="677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45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1C4C4DCD-87DE-4223-972D-50FF5FAC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4"/>
            <a:ext cx="10691813" cy="677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9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1887</TotalTime>
  <Words>843</Words>
  <Application>Microsoft Office PowerPoint</Application>
  <PresentationFormat>사용자 지정</PresentationFormat>
  <Paragraphs>137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fkGroteskNeue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32</cp:revision>
  <dcterms:created xsi:type="dcterms:W3CDTF">2025-10-27T04:51:29Z</dcterms:created>
  <dcterms:modified xsi:type="dcterms:W3CDTF">2025-10-31T05:45:13Z</dcterms:modified>
</cp:coreProperties>
</file>